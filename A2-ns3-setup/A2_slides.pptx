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77"/>
  </p:normalViewPr>
  <p:slideViewPr>
    <p:cSldViewPr snapToGrid="0">
      <p:cViewPr>
        <p:scale>
          <a:sx n="187" d="100"/>
          <a:sy n="187" d="100"/>
        </p:scale>
        <p:origin x="2080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2C8C451-106F-4BF9-B86E-4893AE519E9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dirty="0"/>
              <a:t>The presentation first introduces the integrated lifecycle and then organizes research gaps by lifecycle stage.</a:t>
            </a:r>
            <a:endParaRPr dirty="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dirty="0"/>
              <a:t>[1] A. </a:t>
            </a:r>
            <a:r>
              <a:rPr dirty="0" err="1"/>
              <a:t>Leivadeas</a:t>
            </a:r>
            <a:r>
              <a:rPr dirty="0"/>
              <a:t> and M. Falkner, “A survey on intent-based networking,” IEEE Commun. Surveys Tuts., vol. 25, no. 1, pp. 625–655, 1st Quart., 2023, </a:t>
            </a:r>
            <a:r>
              <a:rPr dirty="0" err="1"/>
              <a:t>doi</a:t>
            </a:r>
            <a:r>
              <a:rPr dirty="0"/>
              <a:t>: 10.1109/COMST.2022.3215919.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dirty="0"/>
              <a:t>[2] K. Mehmood, K. </a:t>
            </a:r>
            <a:r>
              <a:rPr dirty="0" err="1"/>
              <a:t>Kralevska</a:t>
            </a:r>
            <a:r>
              <a:rPr dirty="0"/>
              <a:t>, and D. Palma, “Intent-driven autonomous network and service management in future cellular networks: A structured literature review,” </a:t>
            </a:r>
            <a:r>
              <a:rPr dirty="0" err="1"/>
              <a:t>Comput</a:t>
            </a:r>
            <a:r>
              <a:rPr dirty="0"/>
              <a:t>. </a:t>
            </a:r>
            <a:r>
              <a:rPr dirty="0" err="1"/>
              <a:t>Netw</a:t>
            </a:r>
            <a:r>
              <a:rPr dirty="0"/>
              <a:t>., vol. 220, Art. no. 109477, 2023, </a:t>
            </a:r>
            <a:r>
              <a:rPr dirty="0" err="1"/>
              <a:t>doi</a:t>
            </a:r>
            <a:r>
              <a:rPr dirty="0"/>
              <a:t>: 10.1016/j.comnet.2022.109477.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dirty="0"/>
              <a:t>[3] M. </a:t>
            </a:r>
            <a:r>
              <a:rPr dirty="0" err="1"/>
              <a:t>Gharbaoui</a:t>
            </a:r>
            <a:r>
              <a:rPr dirty="0"/>
              <a:t>, F. Sciarrone, M. Fontana, P. Castoldi, and B. Martini, “Assurance and conflict detection in intent-based networking: A comprehensive survey and insights on standards and open-source tools,” IEEE Trans. </a:t>
            </a:r>
            <a:r>
              <a:rPr dirty="0" err="1"/>
              <a:t>Netw</a:t>
            </a:r>
            <a:r>
              <a:rPr dirty="0"/>
              <a:t>. Service Manag., vol. 23, pp. 1891–1912, 2026, </a:t>
            </a:r>
            <a:r>
              <a:rPr dirty="0" err="1"/>
              <a:t>doi</a:t>
            </a:r>
            <a:r>
              <a:rPr dirty="0"/>
              <a:t>: 10.1109/TNSM.2026.3651896.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dirty="0"/>
              <a:t>[4] Y. Wang, C. Yang, T. Li, Y. Ouyang, X. Mi, and Y. Song, “A survey on intent-driven end-to-end 6G mobile communication system,” IEEE Commun. Surveys Tuts., vol. 28, pp. 882–915, 2026, </a:t>
            </a:r>
            <a:r>
              <a:rPr dirty="0" err="1"/>
              <a:t>doi</a:t>
            </a:r>
            <a:r>
              <a:rPr dirty="0"/>
              <a:t>: 10.1109/COMST.2025.3575041.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96D568-25A3-4E83-B9C4-B97CE97E1A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AB0EB9-57DA-4E92-A4D0-81FDBD3628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0FFEF4-ECBF-49E3-A63D-E772B15C76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EF136F-4C00-4BB8-9B56-EB7949F672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0911C6-2E66-4D04-8BDE-9063813751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273AD5-F8CE-465C-B221-CB1D76FB2E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1_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>
            <a:extLst>
              <a:ext uri="{FF2B5EF4-FFF2-40B4-BE49-F238E27FC236}">
                <a16:creationId xmlns:a16="http://schemas.microsoft.com/office/drawing/2014/main" id="{B74DF495-C217-437C-B311-E72EBAAD0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3160" y="1564323"/>
            <a:ext cx="734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sz="36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>
            <a:extLst>
              <a:ext uri="{FF2B5EF4-FFF2-40B4-BE49-F238E27FC236}">
                <a16:creationId xmlns:a16="http://schemas.microsoft.com/office/drawing/2014/main" id="{488F0989-1390-4A7C-8996-8B1385A2C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2851" y="4180523"/>
            <a:ext cx="4686400" cy="1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>
            <a:extLst>
              <a:ext uri="{FF2B5EF4-FFF2-40B4-BE49-F238E27FC236}">
                <a16:creationId xmlns:a16="http://schemas.microsoft.com/office/drawing/2014/main" id="{F00B5045-8635-4786-80B0-2AEEED52E6B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2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>
            <a:extLst>
              <a:ext uri="{FF2B5EF4-FFF2-40B4-BE49-F238E27FC236}">
                <a16:creationId xmlns:a16="http://schemas.microsoft.com/office/drawing/2014/main" id="{655A2AD3-091F-407F-B6F0-DF0CBCD9A2F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2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550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>
            <a:extLst>
              <a:ext uri="{FF2B5EF4-FFF2-40B4-BE49-F238E27FC236}">
                <a16:creationId xmlns:a16="http://schemas.microsoft.com/office/drawing/2014/main" id="{71DA4733-43FE-483B-AFD6-39B764D64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3160" y="1721757"/>
            <a:ext cx="734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>
                <a:solidFill>
                  <a:srgbClr val="FFFFFF"/>
                </a:solidFill>
                <a:latin typeface="Arial"/>
                <a:ea typeface="Arial"/>
              </a:rPr>
              <a:t>A2 — ns-3 Built-in Traffic Model</a:t>
            </a:r>
            <a:endParaRPr lang="en-US" sz="28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Google Shape;84;p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023" y="6216551"/>
            <a:ext cx="1905968" cy="5135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6815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89"/>
    </mc:Choice>
    <mc:Fallback>
      <p:transition spd="slow" advTm="55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/private/tmp/a1_review/slide-2.png"/>
          <p:cNvPicPr/>
          <p:nvPr/>
        </p:nvPicPr>
        <p:blipFill>
          <a:blip r:embed="rId3"/>
          <a:stretch/>
        </p:blipFill>
        <p:spPr>
          <a:xfrm>
            <a:off x="0" y="1836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Shape 0"/>
          <p:cNvSpPr/>
          <p:nvPr/>
        </p:nvSpPr>
        <p:spPr>
          <a:xfrm>
            <a:off x="11201400" y="18360"/>
            <a:ext cx="932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11338560" y="73080"/>
            <a:ext cx="603000" cy="603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5D5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11338560" y="191880"/>
            <a:ext cx="60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1764900" y="530100"/>
            <a:ext cx="987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Built-in HTTP traffic model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789720" y="1695870"/>
            <a:ext cx="5166000" cy="4434480"/>
          </a:xfrm>
          <a:prstGeom prst="roundRect">
            <a:avLst>
              <a:gd name="adj" fmla="val 1649"/>
            </a:avLst>
          </a:prstGeom>
          <a:solidFill>
            <a:srgbClr val="F5FAFF"/>
          </a:solidFill>
          <a:ln w="13970">
            <a:solidFill>
              <a:srgbClr val="8DB9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6172560" y="1695870"/>
            <a:ext cx="5166000" cy="4434480"/>
          </a:xfrm>
          <a:prstGeom prst="roundRect">
            <a:avLst>
              <a:gd name="adj" fmla="val 1649"/>
            </a:avLst>
          </a:prstGeom>
          <a:solidFill>
            <a:srgbClr val="FFF8F0"/>
          </a:solidFill>
          <a:ln w="13970">
            <a:solidFill>
              <a:srgbClr val="E7B3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1143000" y="1874520"/>
            <a:ext cx="4388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569B5"/>
                </a:solidFill>
                <a:effectLst/>
                <a:uFillTx/>
                <a:latin typeface="Arial"/>
                <a:ea typeface="Arial"/>
              </a:rPr>
              <a:t>ThreeGppHttpClient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1143000" y="2423160"/>
            <a:ext cx="4297320" cy="196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Requests a main web object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Requests embedded objects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Waits for reading time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Repeats the browsing cycle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6602040" y="1874520"/>
            <a:ext cx="4388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87722"/>
                </a:solidFill>
                <a:effectLst/>
                <a:uFillTx/>
                <a:latin typeface="Arial"/>
                <a:ea typeface="Arial"/>
              </a:rPr>
              <a:t>ThreeGppHttpServer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6602040" y="2423160"/>
            <a:ext cx="4297320" cy="196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Accepts the HTTP connection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Generates response object sizes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Segments objects into packets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Returns content to the client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/private/tmp/a1_review/slide-2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Shape 0"/>
          <p:cNvSpPr/>
          <p:nvPr/>
        </p:nvSpPr>
        <p:spPr>
          <a:xfrm>
            <a:off x="11201400" y="18360"/>
            <a:ext cx="932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11338560" y="73080"/>
            <a:ext cx="603000" cy="603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5D5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11338560" y="191880"/>
            <a:ext cx="60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1764900" y="694800"/>
            <a:ext cx="987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Simulation topology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777240" y="1645920"/>
            <a:ext cx="10652400" cy="4160160"/>
          </a:xfrm>
          <a:prstGeom prst="roundRect">
            <a:avLst>
              <a:gd name="adj" fmla="val 1758"/>
            </a:avLst>
          </a:prstGeom>
          <a:solidFill>
            <a:srgbClr val="F7FAFC"/>
          </a:solidFill>
          <a:ln w="1397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1600200" y="20574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569B5"/>
                </a:solidFill>
                <a:effectLst/>
                <a:uFillTx/>
                <a:latin typeface="Arial"/>
                <a:ea typeface="Arial"/>
              </a:rPr>
              <a:t>Node 0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1417320" y="25146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HTTP client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9281160" y="20574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E87722"/>
                </a:solidFill>
                <a:effectLst/>
                <a:uFillTx/>
                <a:latin typeface="Arial"/>
                <a:ea typeface="Arial"/>
              </a:rPr>
              <a:t>Node 1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9098280" y="25146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HTTP server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1"/>
          <p:cNvSpPr/>
          <p:nvPr/>
        </p:nvSpPr>
        <p:spPr>
          <a:xfrm>
            <a:off x="3017520" y="2395440"/>
            <a:ext cx="5577840" cy="360"/>
          </a:xfrm>
          <a:prstGeom prst="line">
            <a:avLst/>
          </a:prstGeom>
          <a:ln w="30480">
            <a:solidFill>
              <a:srgbClr val="0569B5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4663440" y="19386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Point-to-point channel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4160520" y="30632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E7781"/>
                </a:solidFill>
                <a:effectLst/>
                <a:uFillTx/>
                <a:latin typeface="Arial"/>
                <a:ea typeface="Arial"/>
              </a:rPr>
              <a:t>100 Mbps  |  10 ms delay  |  IPv4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1874520" y="48920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569B5"/>
                </a:solidFill>
                <a:effectLst/>
                <a:uFillTx/>
                <a:latin typeface="Arial"/>
                <a:ea typeface="Arial"/>
              </a:rPr>
              <a:t>Simulation time = 60 s   •   Start client at 0.1 s   •   Random seed = 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/private/tmp/a1_review/slide-2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Shape 0"/>
          <p:cNvSpPr/>
          <p:nvPr/>
        </p:nvSpPr>
        <p:spPr>
          <a:xfrm>
            <a:off x="11201400" y="18360"/>
            <a:ext cx="932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11338560" y="73080"/>
            <a:ext cx="603000" cy="603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5D5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11338560" y="191880"/>
            <a:ext cx="60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1554480" y="777780"/>
            <a:ext cx="987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Source code and measurement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777240" y="1627560"/>
            <a:ext cx="10652400" cy="4370400"/>
          </a:xfrm>
          <a:prstGeom prst="roundRect">
            <a:avLst>
              <a:gd name="adj" fmla="val 1674"/>
            </a:avLst>
          </a:prstGeom>
          <a:solidFill>
            <a:srgbClr val="F7FAFC"/>
          </a:solidFill>
          <a:ln w="1397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1170360" y="1938600"/>
            <a:ext cx="9783720" cy="269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Courier New"/>
                <a:ea typeface="Courier New"/>
              </a:rPr>
              <a:t>ThreeGppHttpServerHelper serverHelper(serverAddress);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Courier New"/>
                <a:ea typeface="Courier New"/>
              </a:rPr>
              <a:t>serverHelper.Install(nodes.Get(1));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Courier New"/>
                <a:ea typeface="Courier New"/>
              </a:rPr>
              <a:t>ThreeGppHttpClientHelper clientHelper(serverAddress);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Courier New"/>
                <a:ea typeface="Courier New"/>
              </a:rPr>
              <a:t>clientHelper.Install(nodes.Get(0));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Courier New"/>
                <a:ea typeface="Courier New"/>
              </a:rPr>
              <a:t>httpClient-&gt;TraceConnectWithoutContext(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Courier New"/>
                <a:ea typeface="Courier New"/>
              </a:rPr>
              <a:t>    "Rx", MakeCallback(&amp;ClientRx));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1170360" y="5074920"/>
            <a:ext cx="9600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569B5"/>
                </a:solidFill>
                <a:effectLst/>
                <a:uFillTx/>
                <a:latin typeface="Arial"/>
                <a:ea typeface="Arial"/>
              </a:rPr>
              <a:t>The callback records packet size, arrival time, and inter-arrival time into CSV.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 descr="/private/tmp/a1_review/slide-2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Shape 0"/>
          <p:cNvSpPr/>
          <p:nvPr/>
        </p:nvSpPr>
        <p:spPr>
          <a:xfrm>
            <a:off x="11201400" y="18360"/>
            <a:ext cx="932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11338560" y="73080"/>
            <a:ext cx="603000" cy="603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5D5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11338560" y="191880"/>
            <a:ext cx="60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1513440" y="681120"/>
            <a:ext cx="987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Configured variables and output files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777240" y="1572840"/>
            <a:ext cx="5166000" cy="4434480"/>
          </a:xfrm>
          <a:prstGeom prst="roundRect">
            <a:avLst>
              <a:gd name="adj" fmla="val 1649"/>
            </a:avLst>
          </a:prstGeom>
          <a:solidFill>
            <a:srgbClr val="F5FAFF"/>
          </a:solidFill>
          <a:ln w="13970">
            <a:solidFill>
              <a:srgbClr val="8DB9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6236280" y="1572840"/>
            <a:ext cx="5166000" cy="4434480"/>
          </a:xfrm>
          <a:prstGeom prst="roundRect">
            <a:avLst>
              <a:gd name="adj" fmla="val 1649"/>
            </a:avLst>
          </a:prstGeom>
          <a:solidFill>
            <a:srgbClr val="FFF8F0"/>
          </a:solidFill>
          <a:ln w="13970">
            <a:solidFill>
              <a:srgbClr val="E7B3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1143000" y="190188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569B5"/>
                </a:solidFill>
                <a:effectLst/>
                <a:uFillTx/>
                <a:latin typeface="Arial"/>
                <a:ea typeface="Arial"/>
              </a:rPr>
              <a:t>ThreeGppHttpVariables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1143000" y="2487240"/>
            <a:ext cx="438876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Configured main object mean = 102,400 B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Configured main object std. dev. = 40,960 B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Embedded-object count and reading time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HTTP request/response behavior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6602040" y="1901880"/>
            <a:ext cx="4388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E87722"/>
                </a:solidFill>
                <a:effectLst/>
                <a:uFillTx/>
                <a:latin typeface="Arial"/>
                <a:ea typeface="Arial"/>
              </a:rPr>
              <a:t>Evidence files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6602040" y="2487240"/>
            <a:ext cx="429732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built_in_packet_samples.csv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built_in_pages.csv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built_in_summary.txt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a2-built-in-http-0-0.pcap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/private/tmp/a1_review/slide-2.png"/>
          <p:cNvPicPr/>
          <p:nvPr/>
        </p:nvPicPr>
        <p:blipFill>
          <a:blip r:embed="rId3"/>
          <a:stretch/>
        </p:blipFill>
        <p:spPr>
          <a:xfrm>
            <a:off x="-15120" y="-1800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Shape 0"/>
          <p:cNvSpPr/>
          <p:nvPr/>
        </p:nvSpPr>
        <p:spPr>
          <a:xfrm>
            <a:off x="11201400" y="18360"/>
            <a:ext cx="932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11338560" y="73080"/>
            <a:ext cx="603000" cy="603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5D5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11338560" y="191880"/>
            <a:ext cx="60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1539600" y="713657"/>
            <a:ext cx="987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Result from the built-in run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777240" y="1627560"/>
            <a:ext cx="2880000" cy="141696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397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887040" y="19386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569B5"/>
                </a:solidFill>
                <a:effectLst/>
                <a:uFillTx/>
                <a:latin typeface="Arial"/>
                <a:ea typeface="Arial"/>
              </a:rPr>
              <a:t>441,503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887040" y="248724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E7781"/>
                </a:solidFill>
                <a:effectLst/>
                <a:uFillTx/>
                <a:latin typeface="Arial"/>
                <a:ea typeface="Arial"/>
              </a:rPr>
              <a:t>received bytes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4041720" y="1627560"/>
            <a:ext cx="2880000" cy="141696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397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151520" y="19386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7722"/>
                </a:solidFill>
                <a:effectLst/>
                <a:uFillTx/>
                <a:latin typeface="Arial"/>
                <a:ea typeface="Arial"/>
              </a:rPr>
              <a:t>307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4151520" y="248724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E7781"/>
                </a:solidFill>
                <a:effectLst/>
                <a:uFillTx/>
                <a:latin typeface="Arial"/>
                <a:ea typeface="Arial"/>
              </a:rPr>
              <a:t>received packets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2"/>
          <p:cNvSpPr/>
          <p:nvPr/>
        </p:nvSpPr>
        <p:spPr>
          <a:xfrm>
            <a:off x="7306200" y="1627560"/>
            <a:ext cx="2880000" cy="141696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397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7415640" y="19386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569B5"/>
                </a:solidFill>
                <a:effectLst/>
                <a:uFillTx/>
                <a:latin typeface="Arial"/>
                <a:ea typeface="Arial"/>
              </a:rPr>
              <a:t>0.0589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7415640" y="248724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E7781"/>
                </a:solidFill>
                <a:effectLst/>
                <a:uFillTx/>
                <a:latin typeface="Arial"/>
                <a:ea typeface="Arial"/>
              </a:rPr>
              <a:t>throughput (Mbps)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777240" y="3794760"/>
            <a:ext cx="10652400" cy="141696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397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1143000" y="409644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Run command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1143000" y="452628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569B5"/>
                </a:solidFill>
                <a:effectLst/>
                <a:uFillTx/>
                <a:latin typeface="Courier New"/>
                <a:ea typeface="Courier New"/>
              </a:rPr>
              <a:t>./ns3 run 'a2-traffic-model-built-in --outputDir=.../results'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0" descr="/private/tmp/a1_review/slide-2.png"/>
          <p:cNvPicPr/>
          <p:nvPr/>
        </p:nvPicPr>
        <p:blipFill>
          <a:blip r:embed="rId3"/>
          <a:stretch/>
        </p:blipFill>
        <p:spPr>
          <a:xfrm>
            <a:off x="0" y="-1800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Shape 0"/>
          <p:cNvSpPr/>
          <p:nvPr/>
        </p:nvSpPr>
        <p:spPr>
          <a:xfrm>
            <a:off x="11201400" y="18360"/>
            <a:ext cx="932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"/>
          <p:cNvSpPr/>
          <p:nvPr/>
        </p:nvSpPr>
        <p:spPr>
          <a:xfrm>
            <a:off x="11338560" y="73080"/>
            <a:ext cx="603000" cy="603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5D5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11338560" y="191880"/>
            <a:ext cx="60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1508940" y="736200"/>
            <a:ext cx="987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Distribution evidence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1" descr="/private/tmp/a2_media/ppt/media/image1.png"/>
          <p:cNvPicPr/>
          <p:nvPr/>
        </p:nvPicPr>
        <p:blipFill>
          <a:blip r:embed="rId4"/>
          <a:stretch/>
        </p:blipFill>
        <p:spPr>
          <a:xfrm>
            <a:off x="777240" y="1554480"/>
            <a:ext cx="5166000" cy="191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Image 2" descr="/private/tmp/a2_media/ppt/media/image2.png"/>
          <p:cNvPicPr/>
          <p:nvPr/>
        </p:nvPicPr>
        <p:blipFill>
          <a:blip r:embed="rId5"/>
          <a:stretch/>
        </p:blipFill>
        <p:spPr>
          <a:xfrm>
            <a:off x="6236280" y="1554480"/>
            <a:ext cx="516600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6"/>
          <p:cNvSpPr/>
          <p:nvPr/>
        </p:nvSpPr>
        <p:spPr>
          <a:xfrm>
            <a:off x="960120" y="376740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569B5"/>
                </a:solidFill>
                <a:effectLst/>
                <a:uFillTx/>
                <a:latin typeface="Arial"/>
                <a:ea typeface="Arial"/>
              </a:rPr>
              <a:t>Packet sizes reflect HTTP object segmentation.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6446520" y="376740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7722"/>
                </a:solidFill>
                <a:effectLst/>
                <a:uFillTx/>
                <a:latin typeface="Arial"/>
                <a:ea typeface="Arial"/>
              </a:rPr>
              <a:t>Inter-arrival times come from received packets.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777240" y="4434840"/>
            <a:ext cx="10652400" cy="1142640"/>
          </a:xfrm>
          <a:prstGeom prst="roundRect">
            <a:avLst>
              <a:gd name="adj" fmla="val 6400"/>
            </a:avLst>
          </a:prstGeom>
          <a:solidFill>
            <a:srgbClr val="F7FAFC"/>
          </a:solidFill>
          <a:ln w="1397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1051560" y="481896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n = 307 packet-size samples  |  n = 306 inter-arrival samples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526</Words>
  <Application>Microsoft Macintosh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Microsoft JhengHei</vt:lpstr>
      <vt:lpstr>Arial</vt:lpstr>
      <vt:lpstr>Courier New</vt:lpstr>
      <vt:lpstr>Symbol</vt:lpstr>
      <vt:lpstr>Times New Roman</vt:lpstr>
      <vt:lpstr>Wingdings</vt:lpstr>
      <vt:lpstr>Office Theme</vt:lpstr>
      <vt:lpstr>A2 — ns-3 Built-in Traffic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Taiwan Tech BMW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 — ns-3 Built-in Traffic Model</dc:title>
  <dc:subject>ns-3 built-in traffic model</dc:subject>
  <dc:creator>Henry</dc:creator>
  <dc:description/>
  <cp:lastModifiedBy>M11502205</cp:lastModifiedBy>
  <cp:revision>2</cp:revision>
  <dcterms:created xsi:type="dcterms:W3CDTF">2026-10-11T10:23:09Z</dcterms:created>
  <dcterms:modified xsi:type="dcterms:W3CDTF">2026-10-11T11:24:22Z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